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731520"/>
            <a:ext cx="5029200" cy="5029200"/>
          </a:xfrm>
          <a:prstGeom prst="ellipse">
            <a:avLst/>
          </a:prstGeom>
          <a:solidFill>
            <a:srgbClr val="2D6A4F">
              <a:alpha val="45000"/>
            </a:srgbClr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182880"/>
            <a:ext cx="3657600" cy="3657600"/>
          </a:xfrm>
          <a:prstGeom prst="ellipse">
            <a:avLst/>
          </a:prstGeom>
          <a:solidFill>
            <a:srgbClr val="52B788">
              <a:alpha val="30000"/>
            </a:srgbClr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457200"/>
            <a:ext cx="3108960" cy="365760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572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MINISTRY OF AGRICULTURE, UGANDA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Agricultural Services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57200" y="265176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A8E6BE"/>
                </a:solidFill>
              </a:rPr>
              <a:t>Development of a Functional Agricultural Services Database</a:t>
            </a:r>
            <a:endParaRPr lang="en-US" sz="1350" dirty="0"/>
          </a:p>
          <a:p>
            <a:pPr indent="0" marL="0">
              <a:buNone/>
            </a:pPr>
            <a:r>
              <a:rPr lang="en-US" sz="1350" i="1" dirty="0">
                <a:solidFill>
                  <a:srgbClr val="A8E6BE"/>
                </a:solidFill>
              </a:rPr>
              <a:t>for Coffee Grower Management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0" y="4617720"/>
            <a:ext cx="9144000" cy="521208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466344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Database Programming Final Project  ·  MySQL 8.0 + VS Code  ·  March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9103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Agricultural Services Database  |  Ministry of Agriculture  |  March 2026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8412480" y="491032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2 / 13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09728" cy="489204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22860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4332"/>
                </a:solidFill>
              </a:rPr>
              <a:t>Presentation Outline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20040" y="777240"/>
            <a:ext cx="8503920" cy="36576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8" name="Shape 6"/>
          <p:cNvSpPr/>
          <p:nvPr/>
        </p:nvSpPr>
        <p:spPr>
          <a:xfrm>
            <a:off x="411480" y="960120"/>
            <a:ext cx="4114800" cy="685800"/>
          </a:xfrm>
          <a:prstGeom prst="rect">
            <a:avLst/>
          </a:prstGeom>
          <a:solidFill>
            <a:srgbClr val="D8F3DC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1480" y="960120"/>
            <a:ext cx="502920" cy="6858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96012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1014984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Project Overview &amp; Narration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134416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6A4F"/>
                </a:solidFill>
              </a:rPr>
              <a:t>Slide 3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11480" y="1783080"/>
            <a:ext cx="4114800" cy="685800"/>
          </a:xfrm>
          <a:prstGeom prst="rect">
            <a:avLst/>
          </a:prstGeom>
          <a:solidFill>
            <a:srgbClr val="D8F3DC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11480" y="1783080"/>
            <a:ext cx="502920" cy="6858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178308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60120" y="1837944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Milestone 1 – Requirements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60120" y="216712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6A4F"/>
                </a:solidFill>
              </a:rPr>
              <a:t>Slide 4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11480" y="2606040"/>
            <a:ext cx="4114800" cy="685800"/>
          </a:xfrm>
          <a:prstGeom prst="rect">
            <a:avLst/>
          </a:prstGeom>
          <a:solidFill>
            <a:srgbClr val="D8F3DC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11480" y="2606040"/>
            <a:ext cx="502920" cy="6858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20" name="Text 18"/>
          <p:cNvSpPr/>
          <p:nvPr/>
        </p:nvSpPr>
        <p:spPr>
          <a:xfrm>
            <a:off x="411480" y="260604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60120" y="2660904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Milestone 2 – Database Design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60120" y="299008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6A4F"/>
                </a:solidFill>
              </a:rPr>
              <a:t>Slide 5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11480" y="3429000"/>
            <a:ext cx="4114800" cy="685800"/>
          </a:xfrm>
          <a:prstGeom prst="rect">
            <a:avLst/>
          </a:prstGeom>
          <a:solidFill>
            <a:srgbClr val="D8F3DC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11480" y="3429000"/>
            <a:ext cx="502920" cy="6858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25" name="Text 23"/>
          <p:cNvSpPr/>
          <p:nvPr/>
        </p:nvSpPr>
        <p:spPr>
          <a:xfrm>
            <a:off x="411480" y="342900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60120" y="3483864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Milestone 3 – Database Development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60120" y="381304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6A4F"/>
                </a:solidFill>
              </a:rPr>
              <a:t>Slide 6–7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846320" y="960120"/>
            <a:ext cx="4114800" cy="685800"/>
          </a:xfrm>
          <a:prstGeom prst="rect">
            <a:avLst/>
          </a:prstGeom>
          <a:solidFill>
            <a:srgbClr val="D8F3DC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46320" y="960120"/>
            <a:ext cx="502920" cy="6858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0" y="96012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394960" y="1014984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Milestone 4 – Security &amp; Automation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394960" y="134416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6A4F"/>
                </a:solidFill>
              </a:rPr>
              <a:t>Slide 8–10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846320" y="1783080"/>
            <a:ext cx="4114800" cy="685800"/>
          </a:xfrm>
          <a:prstGeom prst="rect">
            <a:avLst/>
          </a:prstGeom>
          <a:solidFill>
            <a:srgbClr val="D8F3DC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46320" y="1783080"/>
            <a:ext cx="502920" cy="6858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5" name="Text 33"/>
          <p:cNvSpPr/>
          <p:nvPr/>
        </p:nvSpPr>
        <p:spPr>
          <a:xfrm>
            <a:off x="4846320" y="178308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06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394960" y="1837944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Milestone 5 – Testing &amp; Results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394960" y="216712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6A4F"/>
                </a:solidFill>
              </a:rPr>
              <a:t>Slide 11–12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846320" y="2606040"/>
            <a:ext cx="4114800" cy="685800"/>
          </a:xfrm>
          <a:prstGeom prst="rect">
            <a:avLst/>
          </a:prstGeom>
          <a:solidFill>
            <a:srgbClr val="D8F3DC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846320" y="2606040"/>
            <a:ext cx="502920" cy="6858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40" name="Text 38"/>
          <p:cNvSpPr/>
          <p:nvPr/>
        </p:nvSpPr>
        <p:spPr>
          <a:xfrm>
            <a:off x="4846320" y="260604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07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394960" y="2660904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Conclusion &amp; Submission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394960" y="299008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6A4F"/>
                </a:solidFill>
              </a:rPr>
              <a:t>Slide 13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9103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Agricultural Services Database  |  Ministry of Agriculture  |  March 2026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8412480" y="491032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3 / 13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457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Project Overview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65760" y="548640"/>
            <a:ext cx="8412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F3DC"/>
                </a:solidFill>
              </a:rPr>
              <a:t>Ministry of Agriculture – Coffee Sector Database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005840"/>
            <a:ext cx="4114800" cy="3383280"/>
          </a:xfrm>
          <a:prstGeom prst="rect">
            <a:avLst/>
          </a:prstGeom>
          <a:solidFill>
            <a:srgbClr val="D8F3DC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005840"/>
            <a:ext cx="4114800" cy="347472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" y="10058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1417320"/>
            <a:ext cx="374904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Uganda's Ministry of Agriculture needs to:
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• Know all coffee growers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• Track production per farmer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• Plan &amp; distribute seedlings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• Manage extension worker activities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• Support farmers with timely advice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09160" y="1005840"/>
            <a:ext cx="4114800" cy="3383280"/>
          </a:xfrm>
          <a:prstGeom prst="rect">
            <a:avLst/>
          </a:prstGeom>
          <a:solidFill>
            <a:srgbClr val="1B4332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1005840"/>
            <a:ext cx="4114800" cy="347472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14" name="Text 12"/>
          <p:cNvSpPr/>
          <p:nvPr/>
        </p:nvSpPr>
        <p:spPr>
          <a:xfrm>
            <a:off x="4709160" y="10058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20" y="1417320"/>
            <a:ext cx="37947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Relational MySQL Database:
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12 normalised tables (3NF)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5 analytical views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5 stored procedures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7 smart triggers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Role-based user access control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9103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Agricultural Services Database  |  Ministry of Agriculture  |  March 2026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8412480" y="491032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4 / 13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0"/>
            <a:ext cx="1188720" cy="777240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7" name="Text 5"/>
          <p:cNvSpPr/>
          <p:nvPr/>
        </p:nvSpPr>
        <p:spPr>
          <a:xfrm>
            <a:off x="0" y="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25880" y="109728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Milestone 1: Requirements Specification  [20%]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74320" y="914400"/>
            <a:ext cx="416052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914400"/>
            <a:ext cx="822960" cy="11430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914400"/>
            <a:ext cx="822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FR-01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52144" y="987552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332"/>
                </a:solidFill>
              </a:rPr>
              <a:t>Farmer Registration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52144" y="1298448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</a:rPr>
              <a:t>Unique registration number, national ID, contact details, district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09160" y="914400"/>
            <a:ext cx="416052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914400"/>
            <a:ext cx="822960" cy="11430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6" name="Text 14"/>
          <p:cNvSpPr/>
          <p:nvPr/>
        </p:nvSpPr>
        <p:spPr>
          <a:xfrm>
            <a:off x="4709160" y="914400"/>
            <a:ext cx="822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FR-02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586984" y="987552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332"/>
                </a:solidFill>
              </a:rPr>
              <a:t>Farm Management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586984" y="1298448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</a:rPr>
              <a:t>Multiple farms per farmer; GPS, size in acres, variety tracking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2194560"/>
            <a:ext cx="416052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194560"/>
            <a:ext cx="822960" cy="11430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2194560"/>
            <a:ext cx="822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FR-03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52144" y="2267712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332"/>
                </a:solidFill>
              </a:rPr>
              <a:t>Production Tracking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52144" y="2578608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</a:rPr>
              <a:t>Seasonal (1st/2nd) production records per farm per variety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09160" y="2194560"/>
            <a:ext cx="416052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2194560"/>
            <a:ext cx="822960" cy="11430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26" name="Text 24"/>
          <p:cNvSpPr/>
          <p:nvPr/>
        </p:nvSpPr>
        <p:spPr>
          <a:xfrm>
            <a:off x="4709160" y="2194560"/>
            <a:ext cx="822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FR-04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586984" y="2267712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332"/>
                </a:solidFill>
              </a:rPr>
              <a:t>Input Distribution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586984" y="2578608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</a:rPr>
              <a:t>Seedlings, fertilisers, pesticides tracked with stock management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" y="3474720"/>
            <a:ext cx="416052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3474720"/>
            <a:ext cx="822960" cy="11430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1" name="Text 29"/>
          <p:cNvSpPr/>
          <p:nvPr/>
        </p:nvSpPr>
        <p:spPr>
          <a:xfrm>
            <a:off x="274320" y="3474720"/>
            <a:ext cx="822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FR-05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52144" y="3547872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332"/>
                </a:solidFill>
              </a:rPr>
              <a:t>Extension Services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152144" y="3858768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</a:rPr>
              <a:t>Extension worker visits with findings &amp; recommendations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09160" y="3474720"/>
            <a:ext cx="416052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09160" y="3474720"/>
            <a:ext cx="822960" cy="11430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6" name="Text 34"/>
          <p:cNvSpPr/>
          <p:nvPr/>
        </p:nvSpPr>
        <p:spPr>
          <a:xfrm>
            <a:off x="4709160" y="3474720"/>
            <a:ext cx="822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FR-06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586984" y="3547872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332"/>
                </a:solidFill>
              </a:rPr>
              <a:t>Access Control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586984" y="3858768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</a:rPr>
              <a:t>Admin, Extension Worker, and Viewer roles with privileges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74320" y="4617720"/>
            <a:ext cx="8595360" cy="201168"/>
          </a:xfrm>
          <a:prstGeom prst="rect">
            <a:avLst/>
          </a:prstGeom>
          <a:solidFill>
            <a:srgbClr val="D8F3DC"/>
          </a:solidFill>
          <a:ln/>
        </p:spPr>
      </p:sp>
      <p:sp>
        <p:nvSpPr>
          <p:cNvPr id="40" name="Text 38"/>
          <p:cNvSpPr/>
          <p:nvPr/>
        </p:nvSpPr>
        <p:spPr>
          <a:xfrm>
            <a:off x="365760" y="461772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D6A4F"/>
                </a:solidFill>
              </a:rPr>
              <a:t>Key Assumptions: Disjoint person types | Production in kg | Stock managed centrally | GPS optional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9103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Agricultural Services Database  |  Ministry of Agriculture  |  March 2026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8412480" y="491032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5 / 13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0"/>
            <a:ext cx="1188720" cy="77724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7" name="Text 5"/>
          <p:cNvSpPr/>
          <p:nvPr/>
        </p:nvSpPr>
        <p:spPr>
          <a:xfrm>
            <a:off x="0" y="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25880" y="109728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Milestone 2: EER Design  [20%]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200400" y="960120"/>
            <a:ext cx="2743200" cy="640080"/>
          </a:xfrm>
          <a:prstGeom prst="rect">
            <a:avLst/>
          </a:prstGeom>
          <a:solidFill>
            <a:srgbClr val="1B4332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0" y="9601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PERSONS  (Supertype)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97680" y="1600200"/>
            <a:ext cx="548640" cy="274320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12" name="Text 10"/>
          <p:cNvSpPr/>
          <p:nvPr/>
        </p:nvSpPr>
        <p:spPr>
          <a:xfrm>
            <a:off x="4297680" y="16002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ISA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377440" y="1883664"/>
            <a:ext cx="1920240" cy="0"/>
          </a:xfrm>
          <a:prstGeom prst="line">
            <a:avLst/>
          </a:prstGeom>
          <a:noFill/>
          <a:ln w="19050">
            <a:solidFill>
              <a:srgbClr val="2D6A4F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4846320" y="1883664"/>
            <a:ext cx="1920240" cy="0"/>
          </a:xfrm>
          <a:prstGeom prst="line">
            <a:avLst/>
          </a:prstGeom>
          <a:noFill/>
          <a:ln w="19050">
            <a:solidFill>
              <a:srgbClr val="2D6A4F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914400" y="1901952"/>
            <a:ext cx="3108960" cy="594360"/>
          </a:xfrm>
          <a:prstGeom prst="rect">
            <a:avLst/>
          </a:prstGeom>
          <a:solidFill>
            <a:srgbClr val="D8F3DC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14400" y="1901952"/>
            <a:ext cx="3108960" cy="36576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1956816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4332"/>
                </a:solidFill>
              </a:rPr>
              <a:t>FARMERS  (Subtype)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120640" y="1901952"/>
            <a:ext cx="3108960" cy="594360"/>
          </a:xfrm>
          <a:prstGeom prst="rect">
            <a:avLst/>
          </a:prstGeom>
          <a:solidFill>
            <a:srgbClr val="D8F3DC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120640" y="1901952"/>
            <a:ext cx="3108960" cy="36576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20" name="Text 18"/>
          <p:cNvSpPr/>
          <p:nvPr/>
        </p:nvSpPr>
        <p:spPr>
          <a:xfrm>
            <a:off x="5120640" y="1956816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4332"/>
                </a:solidFill>
              </a:rPr>
              <a:t>EXTENSION WORKERS  (Subtype)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371600" y="254203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2D6A4F"/>
                </a:solidFill>
              </a:rPr>
              <a:t>◀ Disjoint Specialisation ▶ (person_type discriminator)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82880" y="2907792"/>
            <a:ext cx="1600200" cy="1737360"/>
          </a:xfrm>
          <a:prstGeom prst="rect">
            <a:avLst/>
          </a:prstGeom>
          <a:solidFill>
            <a:srgbClr val="1B4332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82880" y="2907792"/>
            <a:ext cx="1600200" cy="320040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24" name="Text 22"/>
          <p:cNvSpPr/>
          <p:nvPr/>
        </p:nvSpPr>
        <p:spPr>
          <a:xfrm>
            <a:off x="182880" y="290779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Districts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56032" y="3264408"/>
            <a:ext cx="1463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8F3DC"/>
                </a:solidFill>
              </a:rPr>
              <a:t>Location data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8F3DC"/>
                </a:solidFill>
              </a:rPr>
              <a:t>(referenced by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8F3DC"/>
                </a:solidFill>
              </a:rPr>
              <a:t>Persons &amp; Farms)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1965960" y="2907792"/>
            <a:ext cx="1600200" cy="1737360"/>
          </a:xfrm>
          <a:prstGeom prst="rect">
            <a:avLst/>
          </a:prstGeom>
          <a:solidFill>
            <a:srgbClr val="1B4332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965960" y="2907792"/>
            <a:ext cx="1600200" cy="320040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28" name="Text 26"/>
          <p:cNvSpPr/>
          <p:nvPr/>
        </p:nvSpPr>
        <p:spPr>
          <a:xfrm>
            <a:off x="1965960" y="290779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Farms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039112" y="3264408"/>
            <a:ext cx="1463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8F3DC"/>
                </a:solidFill>
              </a:rPr>
              <a:t>1..N farms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8F3DC"/>
                </a:solidFill>
              </a:rPr>
              <a:t>per farmer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8F3DC"/>
                </a:solidFill>
              </a:rPr>
              <a:t>(GPS + acres)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749040" y="2907792"/>
            <a:ext cx="1600200" cy="1737360"/>
          </a:xfrm>
          <a:prstGeom prst="rect">
            <a:avLst/>
          </a:prstGeom>
          <a:solidFill>
            <a:srgbClr val="1B4332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749040" y="2907792"/>
            <a:ext cx="1600200" cy="320040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32" name="Text 30"/>
          <p:cNvSpPr/>
          <p:nvPr/>
        </p:nvSpPr>
        <p:spPr>
          <a:xfrm>
            <a:off x="3749040" y="290779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CoffeeVarieties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822192" y="3264408"/>
            <a:ext cx="1463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8F3DC"/>
                </a:solidFill>
              </a:rPr>
              <a:t>M:N via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8F3DC"/>
                </a:solidFill>
              </a:rPr>
              <a:t>FarmVarieties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8F3DC"/>
                </a:solidFill>
              </a:rPr>
              <a:t>(Arabica/Robusta)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532120" y="2907792"/>
            <a:ext cx="1600200" cy="1737360"/>
          </a:xfrm>
          <a:prstGeom prst="rect">
            <a:avLst/>
          </a:prstGeom>
          <a:solidFill>
            <a:srgbClr val="1B4332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532120" y="2907792"/>
            <a:ext cx="1600200" cy="320040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36" name="Text 34"/>
          <p:cNvSpPr/>
          <p:nvPr/>
        </p:nvSpPr>
        <p:spPr>
          <a:xfrm>
            <a:off x="5532120" y="290779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ProductionRecords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605272" y="3264408"/>
            <a:ext cx="1463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8F3DC"/>
                </a:solidFill>
              </a:rPr>
              <a:t>Seasonal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8F3DC"/>
                </a:solidFill>
              </a:rPr>
              <a:t>harvest data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8F3DC"/>
                </a:solidFill>
              </a:rPr>
              <a:t>(kg + grade)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7315200" y="2907792"/>
            <a:ext cx="1600200" cy="1737360"/>
          </a:xfrm>
          <a:prstGeom prst="rect">
            <a:avLst/>
          </a:prstGeom>
          <a:solidFill>
            <a:srgbClr val="1B4332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7315200" y="2907792"/>
            <a:ext cx="1600200" cy="320040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40" name="Text 38"/>
          <p:cNvSpPr/>
          <p:nvPr/>
        </p:nvSpPr>
        <p:spPr>
          <a:xfrm>
            <a:off x="7315200" y="290779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Distributions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388352" y="3264408"/>
            <a:ext cx="1463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8F3DC"/>
                </a:solidFill>
              </a:rPr>
              <a:t>Inputs given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8F3DC"/>
                </a:solidFill>
              </a:rPr>
              <a:t>to farmers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8F3DC"/>
                </a:solidFill>
              </a:rPr>
              <a:t>(stock tracking)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9103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Agricultural Services Database  |  Ministry of Agriculture  |  March 2026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8412480" y="491032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6 / 13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0"/>
            <a:ext cx="1188720" cy="77724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7" name="Text 5"/>
          <p:cNvSpPr/>
          <p:nvPr/>
        </p:nvSpPr>
        <p:spPr>
          <a:xfrm>
            <a:off x="0" y="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M3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25880" y="109728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Milestone 3: Database Development – 12 Tables  [20%]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228600" y="914400"/>
            <a:ext cx="425196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" y="914400"/>
            <a:ext cx="73152" cy="621792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11" name="Text 9"/>
          <p:cNvSpPr/>
          <p:nvPr/>
        </p:nvSpPr>
        <p:spPr>
          <a:xfrm>
            <a:off x="374904" y="9601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4332"/>
                </a:solidFill>
              </a:rPr>
              <a:t>Districts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697480" y="96012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D6A4F"/>
                </a:solidFill>
              </a:rPr>
              <a:t>7 records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74904" y="123444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</a:rPr>
              <a:t>district_id, name, region, country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709160" y="914400"/>
            <a:ext cx="425196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914400"/>
            <a:ext cx="73152" cy="621792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16" name="Text 14"/>
          <p:cNvSpPr/>
          <p:nvPr/>
        </p:nvSpPr>
        <p:spPr>
          <a:xfrm>
            <a:off x="4855464" y="9601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4332"/>
                </a:solidFill>
              </a:rPr>
              <a:t>Persons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178040" y="96012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D6A4F"/>
                </a:solidFill>
              </a:rPr>
              <a:t>15 records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55464" y="123444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</a:rPr>
              <a:t>Supertype: name, gender, national_id, email, district, type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28600" y="1627632"/>
            <a:ext cx="425196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28600" y="1627632"/>
            <a:ext cx="73152" cy="621792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21" name="Text 19"/>
          <p:cNvSpPr/>
          <p:nvPr/>
        </p:nvSpPr>
        <p:spPr>
          <a:xfrm>
            <a:off x="374904" y="167335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4332"/>
                </a:solidFill>
              </a:rPr>
              <a:t>Farmers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697480" y="1673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D6A4F"/>
                </a:solidFill>
              </a:rPr>
              <a:t>10 records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74904" y="1947672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</a:rPr>
              <a:t>farmer_id, person_id (ISA), reg_number, coop_member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709160" y="1627632"/>
            <a:ext cx="425196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1627632"/>
            <a:ext cx="73152" cy="621792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26" name="Text 24"/>
          <p:cNvSpPr/>
          <p:nvPr/>
        </p:nvSpPr>
        <p:spPr>
          <a:xfrm>
            <a:off x="4855464" y="167335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4332"/>
                </a:solidFill>
              </a:rPr>
              <a:t>ExtensionWorkers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178040" y="1673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D6A4F"/>
                </a:solidFill>
              </a:rPr>
              <a:t>5 records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55464" y="1947672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</a:rPr>
              <a:t>worker_id, person_id (ISA), employee_id, specialization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28600" y="2340864"/>
            <a:ext cx="425196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28600" y="2340864"/>
            <a:ext cx="73152" cy="621792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31" name="Text 29"/>
          <p:cNvSpPr/>
          <p:nvPr/>
        </p:nvSpPr>
        <p:spPr>
          <a:xfrm>
            <a:off x="374904" y="238658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4332"/>
                </a:solidFill>
              </a:rPr>
              <a:t>Farms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697480" y="238658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D6A4F"/>
                </a:solidFill>
              </a:rPr>
              <a:t>12 records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4904" y="2660904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</a:rPr>
              <a:t>farm_id, farmer_id, GPS, size_acres, variety tracking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709160" y="2340864"/>
            <a:ext cx="425196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09160" y="2340864"/>
            <a:ext cx="73152" cy="621792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36" name="Text 34"/>
          <p:cNvSpPr/>
          <p:nvPr/>
        </p:nvSpPr>
        <p:spPr>
          <a:xfrm>
            <a:off x="4855464" y="238658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4332"/>
                </a:solidFill>
              </a:rPr>
              <a:t>CoffeeVarieties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7178040" y="238658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D6A4F"/>
                </a:solidFill>
              </a:rPr>
              <a:t>5 records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55464" y="2660904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</a:rPr>
              <a:t>Arabica / Robusta / Liberica – yield and maturity data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28600" y="3054096"/>
            <a:ext cx="425196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228600" y="3054096"/>
            <a:ext cx="73152" cy="621792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41" name="Text 39"/>
          <p:cNvSpPr/>
          <p:nvPr/>
        </p:nvSpPr>
        <p:spPr>
          <a:xfrm>
            <a:off x="374904" y="309981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4332"/>
                </a:solidFill>
              </a:rPr>
              <a:t>FarmVarieties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2697480" y="309981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D6A4F"/>
                </a:solidFill>
              </a:rPr>
              <a:t>22 records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74904" y="3374136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</a:rPr>
              <a:t>Junction: farm_id + variety_id, trees_count, planting_date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709160" y="3054096"/>
            <a:ext cx="425196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709160" y="3054096"/>
            <a:ext cx="73152" cy="621792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46" name="Text 44"/>
          <p:cNvSpPr/>
          <p:nvPr/>
        </p:nvSpPr>
        <p:spPr>
          <a:xfrm>
            <a:off x="4855464" y="309981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4332"/>
                </a:solidFill>
              </a:rPr>
              <a:t>ProductionRecords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7178040" y="309981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D6A4F"/>
                </a:solidFill>
              </a:rPr>
              <a:t>20 records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855464" y="3374136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</a:rPr>
              <a:t>season_year, season_period, quantity_kg, quality_grade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228600" y="3767328"/>
            <a:ext cx="425196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228600" y="3767328"/>
            <a:ext cx="73152" cy="621792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51" name="Text 49"/>
          <p:cNvSpPr/>
          <p:nvPr/>
        </p:nvSpPr>
        <p:spPr>
          <a:xfrm>
            <a:off x="374904" y="381304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4332"/>
                </a:solidFill>
              </a:rPr>
              <a:t>Products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2697480" y="381304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D6A4F"/>
                </a:solidFill>
              </a:rPr>
              <a:t>8 records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374904" y="4087368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</a:rPr>
              <a:t>Seedlings, fertilisers, pesticides, equipment + stock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4709160" y="3767328"/>
            <a:ext cx="425196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4709160" y="3767328"/>
            <a:ext cx="73152" cy="621792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56" name="Text 54"/>
          <p:cNvSpPr/>
          <p:nvPr/>
        </p:nvSpPr>
        <p:spPr>
          <a:xfrm>
            <a:off x="4855464" y="381304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4332"/>
                </a:solidFill>
              </a:rPr>
              <a:t>Distributions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7178040" y="381304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D6A4F"/>
                </a:solidFill>
              </a:rPr>
              <a:t>11 records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4855464" y="4087368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</a:rPr>
              <a:t>Farmer ← Product distribution with worker facilitation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228600" y="4480560"/>
            <a:ext cx="425196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228600" y="4480560"/>
            <a:ext cx="73152" cy="621792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61" name="Text 59"/>
          <p:cNvSpPr/>
          <p:nvPr/>
        </p:nvSpPr>
        <p:spPr>
          <a:xfrm>
            <a:off x="374904" y="452628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4332"/>
                </a:solidFill>
              </a:rPr>
              <a:t>FarmVisits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2697480" y="452628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D6A4F"/>
                </a:solidFill>
              </a:rPr>
              <a:t>10 records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374904" y="480060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</a:rPr>
              <a:t>Visit date, findings, recommendations, follow-up date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4709160" y="4480560"/>
            <a:ext cx="425196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4709160" y="4480560"/>
            <a:ext cx="73152" cy="621792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66" name="Text 64"/>
          <p:cNvSpPr/>
          <p:nvPr/>
        </p:nvSpPr>
        <p:spPr>
          <a:xfrm>
            <a:off x="4855464" y="452628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4332"/>
                </a:solidFill>
              </a:rPr>
              <a:t>AuditLog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>
            <a:off x="7178040" y="452628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D6A4F"/>
                </a:solidFill>
              </a:rPr>
              <a:t>Auto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4855464" y="480060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</a:rPr>
              <a:t>System-generated trigger log of all data changes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9103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Agricultural Services Database  |  Ministry of Agriculture  |  March 2026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8412480" y="491032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7 / 13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144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Milestone 3: Data Validation &amp; Constraints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74320" y="777240"/>
            <a:ext cx="4114800" cy="3931920"/>
          </a:xfrm>
          <a:prstGeom prst="rect">
            <a:avLst/>
          </a:prstGeom>
          <a:solidFill>
            <a:srgbClr val="D8F3DC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777240"/>
            <a:ext cx="4114800" cy="347472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7772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Key Constraints Enforced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11480" y="1170432"/>
            <a:ext cx="3840480" cy="3429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</a:rPr>
              <a:t>PRIMARY KEY on all tables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</a:rPr>
              <a:t>UNIQUE on national_id, registration_number, employee_id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</a:rPr>
              <a:t>FOREIGN KEY with ON DELETE RESTRICT / CASCADE / SET NULL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</a:rPr>
              <a:t>CHECK: farm size &gt; 0, quantity_kg &gt;= 0, season_year &gt;= 2000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</a:rPr>
              <a:t>CHECK: email LIKE '%@%.%' (format validation)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</a:rPr>
              <a:t>ENUM for gender, variety_type, quality_grade, product_type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</a:rPr>
              <a:t>NOT NULL on all mandatory business attributes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</a:rPr>
              <a:t>UNIQUE on (farm_id, variety_id, season_year, season_period) – no duplicate season entries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777240"/>
            <a:ext cx="4114800" cy="3931920"/>
          </a:xfrm>
          <a:prstGeom prst="rect">
            <a:avLst/>
          </a:prstGeom>
          <a:solidFill>
            <a:srgbClr val="1B4332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777240"/>
            <a:ext cx="4114800" cy="347472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7772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Sample Data Loaded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892040" y="1188720"/>
            <a:ext cx="731520" cy="347472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15" name="Text 13"/>
          <p:cNvSpPr/>
          <p:nvPr/>
        </p:nvSpPr>
        <p:spPr>
          <a:xfrm>
            <a:off x="4892040" y="1188720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7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687568" y="1243584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F3DC"/>
                </a:solidFill>
              </a:rPr>
              <a:t>Districts across Uganda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92040" y="1618488"/>
            <a:ext cx="731520" cy="347472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1618488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15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687568" y="1673352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F3DC"/>
                </a:solidFill>
              </a:rPr>
              <a:t>Persons (10 Farmers + 5 Workers)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92040" y="2048256"/>
            <a:ext cx="731520" cy="347472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2048256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687568" y="210312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F3DC"/>
                </a:solidFill>
              </a:rPr>
              <a:t>Coffee Varieties (Arabica/Robusta)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92040" y="2478024"/>
            <a:ext cx="731520" cy="347472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24" name="Text 22"/>
          <p:cNvSpPr/>
          <p:nvPr/>
        </p:nvSpPr>
        <p:spPr>
          <a:xfrm>
            <a:off x="4892040" y="2478024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12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687568" y="2532888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F3DC"/>
                </a:solidFill>
              </a:rPr>
              <a:t>Farms across 5 districts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92040" y="2907792"/>
            <a:ext cx="731520" cy="347472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27" name="Text 25"/>
          <p:cNvSpPr/>
          <p:nvPr/>
        </p:nvSpPr>
        <p:spPr>
          <a:xfrm>
            <a:off x="4892040" y="2907792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22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687568" y="2962656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F3DC"/>
                </a:solidFill>
              </a:rPr>
              <a:t>Farm-Variety combinations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92040" y="3337560"/>
            <a:ext cx="731520" cy="347472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30" name="Text 28"/>
          <p:cNvSpPr/>
          <p:nvPr/>
        </p:nvSpPr>
        <p:spPr>
          <a:xfrm>
            <a:off x="4892040" y="3337560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20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5687568" y="3392424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F3DC"/>
                </a:solidFill>
              </a:rPr>
              <a:t>Production Records (2022–2023)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92040" y="3767328"/>
            <a:ext cx="731520" cy="347472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33" name="Text 31"/>
          <p:cNvSpPr/>
          <p:nvPr/>
        </p:nvSpPr>
        <p:spPr>
          <a:xfrm>
            <a:off x="4892040" y="3767328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11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5687568" y="3822192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F3DC"/>
                </a:solidFill>
              </a:rPr>
              <a:t>Input Distributions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892040" y="4197096"/>
            <a:ext cx="731520" cy="347472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36" name="Text 34"/>
          <p:cNvSpPr/>
          <p:nvPr/>
        </p:nvSpPr>
        <p:spPr>
          <a:xfrm>
            <a:off x="4892040" y="4197096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10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5687568" y="425196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F3DC"/>
                </a:solidFill>
              </a:rPr>
              <a:t>Extension Farm Visits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9103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Agricultural Services Database  |  Ministry of Agriculture  |  March 2026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8412480" y="491032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8 / 13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0"/>
            <a:ext cx="1188720" cy="777240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7" name="Text 5"/>
          <p:cNvSpPr/>
          <p:nvPr/>
        </p:nvSpPr>
        <p:spPr>
          <a:xfrm>
            <a:off x="0" y="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M4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25880" y="109728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Milestone 4: Security &amp; Automation – Views (5)  [20%]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274320" y="914400"/>
            <a:ext cx="859536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914400"/>
            <a:ext cx="73152" cy="713232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11" name="Text 9"/>
          <p:cNvSpPr/>
          <p:nvPr/>
        </p:nvSpPr>
        <p:spPr>
          <a:xfrm>
            <a:off x="438912" y="9601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332"/>
                </a:solidFill>
              </a:rPr>
              <a:t>FarmerDetailsView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38912" y="1243584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</a:rPr>
              <a:t>Complete farmer profile joining Persons, Farmers, Districts, and Farms.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</a:rPr>
              <a:t>Shows name, contacts, district, number of farms, and total acreage.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1709928"/>
            <a:ext cx="859536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1709928"/>
            <a:ext cx="73152" cy="713232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5" name="Text 13"/>
          <p:cNvSpPr/>
          <p:nvPr/>
        </p:nvSpPr>
        <p:spPr>
          <a:xfrm>
            <a:off x="438912" y="17556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332"/>
                </a:solidFill>
              </a:rPr>
              <a:t>ProductionSummaryView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38912" y="203911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</a:rPr>
              <a:t>Aggregated production per farmer per season year and period.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</a:rPr>
              <a:t>Includes total kg, average kg, farms producing, and varieties grown.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2505456"/>
            <a:ext cx="859536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505456"/>
            <a:ext cx="73152" cy="713232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19" name="Text 17"/>
          <p:cNvSpPr/>
          <p:nvPr/>
        </p:nvSpPr>
        <p:spPr>
          <a:xfrm>
            <a:off x="438912" y="255117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332"/>
                </a:solidFill>
              </a:rPr>
              <a:t>DistributionHistoryView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38912" y="28346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</a:rPr>
              <a:t>All input distributions with product names, quantities, monetary values,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</a:rPr>
              <a:t>and the extension worker who facilitated each distribution.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3300984"/>
            <a:ext cx="859536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300984"/>
            <a:ext cx="73152" cy="713232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23" name="Text 21"/>
          <p:cNvSpPr/>
          <p:nvPr/>
        </p:nvSpPr>
        <p:spPr>
          <a:xfrm>
            <a:off x="438912" y="334670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332"/>
                </a:solidFill>
              </a:rPr>
              <a:t>ExtensionWorkerActivityView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38912" y="363016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</a:rPr>
              <a:t>Worker performance: total visits conducted, distributions facilitated,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</a:rPr>
              <a:t>production records entered, and date of last farm visit.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4096512"/>
            <a:ext cx="859536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4096512"/>
            <a:ext cx="73152" cy="713232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27" name="Text 25"/>
          <p:cNvSpPr/>
          <p:nvPr/>
        </p:nvSpPr>
        <p:spPr>
          <a:xfrm>
            <a:off x="438912" y="41422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332"/>
                </a:solidFill>
              </a:rPr>
              <a:t>FarmProductionDashboard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38912" y="442569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</a:rPr>
              <a:t>Farm-level dashboard showing total trees, varieties grown, current-year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</a:rPr>
              <a:t>production in kg, and total advisory visits received.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9103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Agricultural Services Database  |  Ministry of Agriculture  |  March 2026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8412480" y="491032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9 / 13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144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Milestone 4: Stored Procedures (5) &amp; Triggers (7)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274320" y="777240"/>
            <a:ext cx="4160520" cy="3931920"/>
          </a:xfrm>
          <a:prstGeom prst="rect">
            <a:avLst/>
          </a:prstGeom>
          <a:solidFill>
            <a:srgbClr val="D8F3DC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777240"/>
            <a:ext cx="4160520" cy="347472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77724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Stored Procedures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84048" y="1170432"/>
            <a:ext cx="256032" cy="256032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11" name="Text 9"/>
          <p:cNvSpPr/>
          <p:nvPr/>
        </p:nvSpPr>
        <p:spPr>
          <a:xfrm>
            <a:off x="384048" y="11704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94944" y="1152144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4332"/>
                </a:solidFill>
              </a:rPr>
              <a:t>sp_RegisterFarmer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94944" y="1408176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</a:rPr>
              <a:t>Inserts into Persons + Farmers in one transaction; auto-generates registration number; OUT parameters for ID and message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84048" y="1874520"/>
            <a:ext cx="256032" cy="256032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15" name="Text 13"/>
          <p:cNvSpPr/>
          <p:nvPr/>
        </p:nvSpPr>
        <p:spPr>
          <a:xfrm>
            <a:off x="384048" y="18745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94944" y="1856232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4332"/>
                </a:solidFill>
              </a:rPr>
              <a:t>sp_RecordProduction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94944" y="2112264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</a:rPr>
              <a:t>Validates farm is active and qty &gt;= 0; inserts production record; returns production_id and status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84048" y="2578608"/>
            <a:ext cx="256032" cy="256032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19" name="Text 17"/>
          <p:cNvSpPr/>
          <p:nvPr/>
        </p:nvSpPr>
        <p:spPr>
          <a:xfrm>
            <a:off x="384048" y="25786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94944" y="2560320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4332"/>
                </a:solidFill>
              </a:rPr>
              <a:t>sp_DistributeProduct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94944" y="2816352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</a:rPr>
              <a:t>Checks stock availability; inserts distribution; deducts stock; returns remaining inventory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84048" y="3282696"/>
            <a:ext cx="256032" cy="256032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23" name="Text 21"/>
          <p:cNvSpPr/>
          <p:nvPr/>
        </p:nvSpPr>
        <p:spPr>
          <a:xfrm>
            <a:off x="384048" y="32826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94944" y="3264408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4332"/>
                </a:solidFill>
              </a:rPr>
              <a:t>sp_GetFarmerProductionReport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94944" y="352044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</a:rPr>
              <a:t>Returns all production records for a given farmer_id across all farms and seasons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84048" y="3986784"/>
            <a:ext cx="256032" cy="256032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27" name="Text 25"/>
          <p:cNvSpPr/>
          <p:nvPr/>
        </p:nvSpPr>
        <p:spPr>
          <a:xfrm>
            <a:off x="384048" y="39867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94944" y="3968496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4332"/>
                </a:solidFill>
              </a:rPr>
              <a:t>sp_DistrictProductionSummary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94944" y="4224528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</a:rPr>
              <a:t>Aggregates district-level production for a specified year including premium grade totals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709160" y="777240"/>
            <a:ext cx="4160520" cy="3931920"/>
          </a:xfrm>
          <a:prstGeom prst="rect">
            <a:avLst/>
          </a:prstGeom>
          <a:solidFill>
            <a:srgbClr val="1B4332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09160" y="777240"/>
            <a:ext cx="4160520" cy="347472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32" name="Text 30"/>
          <p:cNvSpPr/>
          <p:nvPr/>
        </p:nvSpPr>
        <p:spPr>
          <a:xfrm>
            <a:off x="4709160" y="77724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Triggers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818888" y="1207008"/>
            <a:ext cx="201168" cy="201168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34" name="Text 32"/>
          <p:cNvSpPr/>
          <p:nvPr/>
        </p:nvSpPr>
        <p:spPr>
          <a:xfrm>
            <a:off x="5084064" y="1188720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8F3DC"/>
                </a:solidFill>
              </a:rPr>
              <a:t>AFTER INSERT Distributions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084064" y="144475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E6BE"/>
                </a:solidFill>
              </a:rPr>
              <a:t>Auto-deducts distributed quantity from Products.current_stock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818888" y="1737360"/>
            <a:ext cx="201168" cy="201168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37" name="Text 35"/>
          <p:cNvSpPr/>
          <p:nvPr/>
        </p:nvSpPr>
        <p:spPr>
          <a:xfrm>
            <a:off x="5084064" y="171907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8F3DC"/>
                </a:solidFill>
              </a:rPr>
              <a:t>AFTER DELETE Distributions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084064" y="1975104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E6BE"/>
                </a:solidFill>
              </a:rPr>
              <a:t>Restores stock when a distribution record is removed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818888" y="2267712"/>
            <a:ext cx="201168" cy="201168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40" name="Text 38"/>
          <p:cNvSpPr/>
          <p:nvPr/>
        </p:nvSpPr>
        <p:spPr>
          <a:xfrm>
            <a:off x="5084064" y="2249424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8F3DC"/>
                </a:solidFill>
              </a:rPr>
              <a:t>BEFORE DELETE Farmers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084064" y="2505456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E6BE"/>
                </a:solidFill>
              </a:rPr>
              <a:t>Blocks deletion if farmer has associated farm records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818888" y="2798064"/>
            <a:ext cx="201168" cy="201168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43" name="Text 41"/>
          <p:cNvSpPr/>
          <p:nvPr/>
        </p:nvSpPr>
        <p:spPr>
          <a:xfrm>
            <a:off x="5084064" y="2779776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8F3DC"/>
                </a:solidFill>
              </a:rPr>
              <a:t>AFTER INSERT ProductionRecords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084064" y="3035808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E6BE"/>
                </a:solidFill>
              </a:rPr>
              <a:t>Writes new entry to AuditLog with user and timestamp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818888" y="3328416"/>
            <a:ext cx="201168" cy="201168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46" name="Text 44"/>
          <p:cNvSpPr/>
          <p:nvPr/>
        </p:nvSpPr>
        <p:spPr>
          <a:xfrm>
            <a:off x="5084064" y="3310128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8F3DC"/>
                </a:solidFill>
              </a:rPr>
              <a:t>AFTER UPDATE ProductionRecords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084064" y="3566160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E6BE"/>
                </a:solidFill>
              </a:rPr>
              <a:t>Logs old vs new values in AuditLog for change tracking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818888" y="3858768"/>
            <a:ext cx="201168" cy="201168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49" name="Text 47"/>
          <p:cNvSpPr/>
          <p:nvPr/>
        </p:nvSpPr>
        <p:spPr>
          <a:xfrm>
            <a:off x="5084064" y="3840480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8F3DC"/>
                </a:solidFill>
              </a:rPr>
              <a:t>BEFORE INSERT Distributions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084064" y="409651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E6BE"/>
                </a:solidFill>
              </a:rPr>
              <a:t>Validates sufficient stock exists; raises error if not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4818888" y="4389120"/>
            <a:ext cx="201168" cy="201168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52" name="Text 50"/>
          <p:cNvSpPr/>
          <p:nvPr/>
        </p:nvSpPr>
        <p:spPr>
          <a:xfrm>
            <a:off x="5084064" y="437083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8F3DC"/>
                </a:solidFill>
              </a:rPr>
              <a:t>AFTER INSERT FarmVarieties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084064" y="4626864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E6BE"/>
                </a:solidFill>
              </a:rPr>
              <a:t>Recalculates and updates Farmers.total_trees count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9103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Agricultural Services Database  |  Ministry of Agriculture  |  March 2026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8412480" y="491032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10 / 13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144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Milestone 4: User Roles &amp; Backup Strategy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74320" y="777240"/>
            <a:ext cx="2743200" cy="2880360"/>
          </a:xfrm>
          <a:prstGeom prst="rect">
            <a:avLst/>
          </a:prstGeom>
          <a:solidFill>
            <a:srgbClr val="1B4332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777240"/>
            <a:ext cx="2743200" cy="411480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7772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agri_admin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320" y="102412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FFFFFF"/>
                </a:solidFill>
              </a:rPr>
              <a:t>Database Admin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65760" y="1252728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• ALL PRIVILEGES on agri_coffee_db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5760" y="1709928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• DDL: CREATE, DROP, ALTER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5760" y="2167128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• DML: SELECT, INSERT, UPDATE, DELETE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2624328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• GRANT / REVOKE to other users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5760" y="3081528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• Execute all procedures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0" y="777240"/>
            <a:ext cx="2743200" cy="2880360"/>
          </a:xfrm>
          <a:prstGeom prst="rect">
            <a:avLst/>
          </a:prstGeom>
          <a:solidFill>
            <a:srgbClr val="2D6A4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0" y="777240"/>
            <a:ext cx="2743200" cy="411480"/>
          </a:xfrm>
          <a:prstGeom prst="rect">
            <a:avLst/>
          </a:prstGeom>
          <a:solidFill>
            <a:srgbClr val="A8E6BE"/>
          </a:solidFill>
          <a:ln/>
        </p:spPr>
      </p:sp>
      <p:sp>
        <p:nvSpPr>
          <p:cNvPr id="18" name="Text 16"/>
          <p:cNvSpPr/>
          <p:nvPr/>
        </p:nvSpPr>
        <p:spPr>
          <a:xfrm>
            <a:off x="3200400" y="7772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ext_worker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00400" y="102412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FFFFFF"/>
                </a:solidFill>
              </a:rPr>
              <a:t>Extension Worker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291840" y="1252728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• SELECT / INSERT / UPDATE on: ProductionRecords, FarmVisits, Distributions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291840" y="1709928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• SELECT on: Farmers, Farms, Products, Districts, Persons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291840" y="2167128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• SELECT on FarmerDetailsView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291840" y="2624328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• EXECUTE sp_RecordProduction, sp_DistributeProduct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126480" y="777240"/>
            <a:ext cx="2743200" cy="2880360"/>
          </a:xfrm>
          <a:prstGeom prst="rect">
            <a:avLst/>
          </a:prstGeom>
          <a:solidFill>
            <a:srgbClr val="D8F3DC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777240"/>
            <a:ext cx="2743200" cy="41148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26" name="Text 24"/>
          <p:cNvSpPr/>
          <p:nvPr/>
        </p:nvSpPr>
        <p:spPr>
          <a:xfrm>
            <a:off x="6126480" y="7772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agri_viewer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126480" y="102412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1B4332"/>
                </a:solidFill>
              </a:rPr>
              <a:t>Ministry Viewer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217920" y="1252728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B4332"/>
                </a:solidFill>
              </a:rPr>
              <a:t>• SELECT on 5 Views ONLY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217920" y="1709928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B4332"/>
                </a:solidFill>
              </a:rPr>
              <a:t>• No direct table access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217920" y="2167128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B4332"/>
                </a:solidFill>
              </a:rPr>
              <a:t>• EXECUTE sp_DistrictProductionSummary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217920" y="2624328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B4332"/>
                </a:solidFill>
              </a:rPr>
              <a:t>• Cannot INSERT, UPDATE, or DELETE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217920" y="3081528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B4332"/>
                </a:solidFill>
              </a:rPr>
              <a:t>• Read-only reporting access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74320" y="3749040"/>
            <a:ext cx="8595360" cy="987552"/>
          </a:xfrm>
          <a:prstGeom prst="rect">
            <a:avLst/>
          </a:prstGeom>
          <a:solidFill>
            <a:srgbClr val="1B4332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74320" y="3749040"/>
            <a:ext cx="1920240" cy="987552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35" name="Text 33"/>
          <p:cNvSpPr/>
          <p:nvPr/>
        </p:nvSpPr>
        <p:spPr>
          <a:xfrm>
            <a:off x="274320" y="3749040"/>
            <a:ext cx="19202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BACKUP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STRATEGY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331720" y="3803904"/>
            <a:ext cx="640080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8F3DC"/>
                </a:solidFill>
              </a:rPr>
              <a:t>Full Dump: </a:t>
            </a:r>
            <a:pPr indent="0" marL="0">
              <a:buNone/>
            </a:pPr>
            <a:r>
              <a:rPr lang="en-US" sz="950" dirty="0">
                <a:solidFill>
                  <a:srgbClr val="A8E6BE"/>
                </a:solidFill>
              </a:rPr>
              <a:t>mysqldump -u agri_admin -p agri_coffee_db &gt; backup_YYYYMMDD.sql  </a:t>
            </a:r>
            <a:pPr indent="0" marL="0">
              <a:buNone/>
            </a:pPr>
            <a:r>
              <a:rPr lang="en-US" sz="950" b="1" dirty="0">
                <a:solidFill>
                  <a:srgbClr val="D8F3DC"/>
                </a:solidFill>
              </a:rPr>
              <a:t> | Restore: </a:t>
            </a:r>
            <a:pPr indent="0" marL="0">
              <a:buNone/>
            </a:pPr>
            <a:r>
              <a:rPr lang="en-US" sz="950" dirty="0">
                <a:solidFill>
                  <a:srgbClr val="A8E6BE"/>
                </a:solidFill>
              </a:rPr>
              <a:t>mysql -u root -p agri_coffee_db &lt; backup.sql  </a:t>
            </a:r>
            <a:pPr indent="0" marL="0">
              <a:buNone/>
            </a:pPr>
            <a:r>
              <a:rPr lang="en-US" sz="950" b="1" dirty="0">
                <a:solidFill>
                  <a:srgbClr val="D8F3DC"/>
                </a:solidFill>
              </a:rPr>
              <a:t> | Scheduled: </a:t>
            </a:r>
            <a:pPr indent="0" marL="0">
              <a:buNone/>
            </a:pPr>
            <a:r>
              <a:rPr lang="en-US" sz="950" dirty="0">
                <a:solidFill>
                  <a:srgbClr val="A8E6BE"/>
                </a:solidFill>
              </a:rPr>
              <a:t>Daily cron at 02:00 AM | Binary logs enabled for point-in-time recovery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9103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Agricultural Services Database  |  Ministry of Agriculture  |  March 2026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8412480" y="491032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11 / 13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0"/>
            <a:ext cx="1188720" cy="77724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7" name="Text 5"/>
          <p:cNvSpPr/>
          <p:nvPr/>
        </p:nvSpPr>
        <p:spPr>
          <a:xfrm>
            <a:off x="0" y="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M5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25880" y="109728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Milestone 5: Testing &amp; Validation Results  [20%]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274320" y="896112"/>
            <a:ext cx="8595360" cy="347472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89611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Test Scenario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14800" y="89611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Expected Result / Error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863840" y="896112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Status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1280160"/>
            <a:ext cx="8595360" cy="329184"/>
          </a:xfrm>
          <a:prstGeom prst="rect">
            <a:avLst/>
          </a:prstGeom>
          <a:solidFill>
            <a:srgbClr val="D8F3DC"/>
          </a:solidFill>
          <a:ln/>
        </p:spPr>
      </p:sp>
      <p:sp>
        <p:nvSpPr>
          <p:cNvPr id="14" name="Text 12"/>
          <p:cNvSpPr/>
          <p:nvPr/>
        </p:nvSpPr>
        <p:spPr>
          <a:xfrm>
            <a:off x="347472" y="1316736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</a:rPr>
              <a:t>Duplicate national_id INSERT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114800" y="1316736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</a:rPr>
              <a:t>Raises: Duplicate entry for key 'uq_national_id'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882128" y="1325880"/>
            <a:ext cx="914400" cy="23774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7" name="Text 15"/>
          <p:cNvSpPr/>
          <p:nvPr/>
        </p:nvSpPr>
        <p:spPr>
          <a:xfrm>
            <a:off x="7882128" y="132588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PASS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74320" y="1627632"/>
            <a:ext cx="859536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347472" y="1664208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</a:rPr>
              <a:t>Negative farm size (size_acres = -1)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114800" y="1664208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</a:rPr>
              <a:t>Raises: CHECK constraint violated on Farms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882128" y="1673352"/>
            <a:ext cx="914400" cy="23774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2" name="Text 20"/>
          <p:cNvSpPr/>
          <p:nvPr/>
        </p:nvSpPr>
        <p:spPr>
          <a:xfrm>
            <a:off x="7882128" y="16733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PASS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74320" y="1975104"/>
            <a:ext cx="8595360" cy="329184"/>
          </a:xfrm>
          <a:prstGeom prst="rect">
            <a:avLst/>
          </a:prstGeom>
          <a:solidFill>
            <a:srgbClr val="D8F3DC"/>
          </a:solidFill>
          <a:ln/>
        </p:spPr>
      </p:sp>
      <p:sp>
        <p:nvSpPr>
          <p:cNvPr id="24" name="Text 22"/>
          <p:cNvSpPr/>
          <p:nvPr/>
        </p:nvSpPr>
        <p:spPr>
          <a:xfrm>
            <a:off x="347472" y="2011680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</a:rPr>
              <a:t>Distribute qty &gt; current_stock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114800" y="2011680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</a:rPr>
              <a:t>trg_BeforeDistributionInsert → SQLSTATE 45000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7882128" y="2020824"/>
            <a:ext cx="914400" cy="23774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7" name="Text 25"/>
          <p:cNvSpPr/>
          <p:nvPr/>
        </p:nvSpPr>
        <p:spPr>
          <a:xfrm>
            <a:off x="7882128" y="202082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PASS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74320" y="2322576"/>
            <a:ext cx="859536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347472" y="2359152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</a:rPr>
              <a:t>DELETE farmer with farm records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114800" y="2359152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</a:rPr>
              <a:t>trg_BeforeDeleteFarmer → 'Cannot delete farmer'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7882128" y="2368296"/>
            <a:ext cx="914400" cy="23774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2" name="Text 30"/>
          <p:cNvSpPr/>
          <p:nvPr/>
        </p:nvSpPr>
        <p:spPr>
          <a:xfrm>
            <a:off x="7882128" y="236829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PASS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74320" y="2670048"/>
            <a:ext cx="8595360" cy="329184"/>
          </a:xfrm>
          <a:prstGeom prst="rect">
            <a:avLst/>
          </a:prstGeom>
          <a:solidFill>
            <a:srgbClr val="D8F3DC"/>
          </a:solidFill>
          <a:ln/>
        </p:spPr>
      </p:sp>
      <p:sp>
        <p:nvSpPr>
          <p:cNvPr id="34" name="Text 32"/>
          <p:cNvSpPr/>
          <p:nvPr/>
        </p:nvSpPr>
        <p:spPr>
          <a:xfrm>
            <a:off x="347472" y="2706624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</a:rPr>
              <a:t>Duplicate season production entry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114800" y="2706624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</a:rPr>
              <a:t>Raises: Duplicate entry for 'uq_production_entry'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7882128" y="2715768"/>
            <a:ext cx="914400" cy="23774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7" name="Text 35"/>
          <p:cNvSpPr/>
          <p:nvPr/>
        </p:nvSpPr>
        <p:spPr>
          <a:xfrm>
            <a:off x="7882128" y="271576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PASS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74320" y="3017520"/>
            <a:ext cx="859536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347472" y="3054096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</a:rPr>
              <a:t>ext_worker attempts DROP TABLE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114800" y="3054096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</a:rPr>
              <a:t>MySQL raises: 'Access denied for user ext_worker'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7882128" y="3063240"/>
            <a:ext cx="914400" cy="23774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42" name="Text 40"/>
          <p:cNvSpPr/>
          <p:nvPr/>
        </p:nvSpPr>
        <p:spPr>
          <a:xfrm>
            <a:off x="7882128" y="306324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PASS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274320" y="3364992"/>
            <a:ext cx="8595360" cy="329184"/>
          </a:xfrm>
          <a:prstGeom prst="rect">
            <a:avLst/>
          </a:prstGeom>
          <a:solidFill>
            <a:srgbClr val="D8F3DC"/>
          </a:solidFill>
          <a:ln/>
        </p:spPr>
      </p:sp>
      <p:sp>
        <p:nvSpPr>
          <p:cNvPr id="44" name="Text 42"/>
          <p:cNvSpPr/>
          <p:nvPr/>
        </p:nvSpPr>
        <p:spPr>
          <a:xfrm>
            <a:off x="347472" y="3401568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</a:rPr>
              <a:t>agri_viewer reads FarmerDetailsView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114800" y="3401568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</a:rPr>
              <a:t>Returns 10 rows – all farmer profiles shown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7882128" y="3410712"/>
            <a:ext cx="914400" cy="23774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47" name="Text 45"/>
          <p:cNvSpPr/>
          <p:nvPr/>
        </p:nvSpPr>
        <p:spPr>
          <a:xfrm>
            <a:off x="7882128" y="341071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PASS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274320" y="3712464"/>
            <a:ext cx="859536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" name="Text 47"/>
          <p:cNvSpPr/>
          <p:nvPr/>
        </p:nvSpPr>
        <p:spPr>
          <a:xfrm>
            <a:off x="347472" y="3749040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</a:rPr>
              <a:t>Audit log auto-populated on insert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4114800" y="3749040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</a:rPr>
              <a:t>AuditLog shows new row after each production INSERT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7882128" y="3758184"/>
            <a:ext cx="914400" cy="23774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52" name="Text 50"/>
          <p:cNvSpPr/>
          <p:nvPr/>
        </p:nvSpPr>
        <p:spPr>
          <a:xfrm>
            <a:off x="7882128" y="375818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PASS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274320" y="4059936"/>
            <a:ext cx="8595360" cy="329184"/>
          </a:xfrm>
          <a:prstGeom prst="rect">
            <a:avLst/>
          </a:prstGeom>
          <a:solidFill>
            <a:srgbClr val="D8F3DC"/>
          </a:solidFill>
          <a:ln/>
        </p:spPr>
      </p:sp>
      <p:sp>
        <p:nvSpPr>
          <p:cNvPr id="54" name="Text 52"/>
          <p:cNvSpPr/>
          <p:nvPr/>
        </p:nvSpPr>
        <p:spPr>
          <a:xfrm>
            <a:off x="347472" y="4096512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</a:rPr>
              <a:t>Stock deducted after distribution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4114800" y="4096512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</a:rPr>
              <a:t>Products.current_stock decremented correctly by trigger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7882128" y="4105656"/>
            <a:ext cx="914400" cy="23774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57" name="Text 55"/>
          <p:cNvSpPr/>
          <p:nvPr/>
        </p:nvSpPr>
        <p:spPr>
          <a:xfrm>
            <a:off x="7882128" y="410565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PASS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274320" y="4407408"/>
            <a:ext cx="859536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9" name="Text 57"/>
          <p:cNvSpPr/>
          <p:nvPr/>
        </p:nvSpPr>
        <p:spPr>
          <a:xfrm>
            <a:off x="347472" y="4443984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</a:rPr>
              <a:t>sp_RegisterFarmer new farmer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4114800" y="4443984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</a:rPr>
              <a:t>Returns farmer_id, reg_number, SUCCESS message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7882128" y="4453128"/>
            <a:ext cx="914400" cy="23774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62" name="Text 60"/>
          <p:cNvSpPr/>
          <p:nvPr/>
        </p:nvSpPr>
        <p:spPr>
          <a:xfrm>
            <a:off x="7882128" y="445312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PASS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9103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Agricultural Services Database  |  Ministry of Agriculture  |  March 2026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8412480" y="491032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12 / 13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Database at a Glance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286000" y="658368"/>
            <a:ext cx="4572000" cy="54864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868680"/>
            <a:ext cx="2377440" cy="182880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14300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52B788"/>
                </a:solidFill>
              </a:rPr>
              <a:t>12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57200" y="196596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F3DC"/>
                </a:solidFill>
              </a:rPr>
              <a:t>Tables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868680"/>
            <a:ext cx="2377440" cy="182880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114300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8F3DC"/>
                </a:solidFill>
              </a:rPr>
              <a:t>5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3291840" y="196596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F3DC"/>
                </a:solidFill>
              </a:rPr>
              <a:t>Views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868680"/>
            <a:ext cx="2377440" cy="182880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0" y="114300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52B788"/>
                </a:solidFill>
              </a:rPr>
              <a:t>5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6126480" y="196596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F3DC"/>
                </a:solidFill>
              </a:rPr>
              <a:t>Stored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8F3DC"/>
                </a:solidFill>
              </a:rPr>
              <a:t>Procedures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926080"/>
            <a:ext cx="2377440" cy="182880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20040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8F3DC"/>
                </a:solidFill>
              </a:rPr>
              <a:t>7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457200" y="402336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F3DC"/>
                </a:solidFill>
              </a:rPr>
              <a:t>Triggers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91840" y="2926080"/>
            <a:ext cx="2377440" cy="182880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20" name="Text 18"/>
          <p:cNvSpPr/>
          <p:nvPr/>
        </p:nvSpPr>
        <p:spPr>
          <a:xfrm>
            <a:off x="3291840" y="320040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52B788"/>
                </a:solidFill>
              </a:rPr>
              <a:t>3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3291840" y="402336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F3DC"/>
                </a:solidFill>
              </a:rPr>
              <a:t>User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8F3DC"/>
                </a:solidFill>
              </a:rPr>
              <a:t>Roles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26480" y="2926080"/>
            <a:ext cx="2377440" cy="182880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23" name="Text 21"/>
          <p:cNvSpPr/>
          <p:nvPr/>
        </p:nvSpPr>
        <p:spPr>
          <a:xfrm>
            <a:off x="6126480" y="320040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8F3DC"/>
                </a:solidFill>
              </a:rPr>
              <a:t>100+</a:t>
            </a:r>
            <a:endParaRPr lang="en-US" sz="4000" dirty="0"/>
          </a:p>
        </p:txBody>
      </p:sp>
      <p:sp>
        <p:nvSpPr>
          <p:cNvPr id="24" name="Text 22"/>
          <p:cNvSpPr/>
          <p:nvPr/>
        </p:nvSpPr>
        <p:spPr>
          <a:xfrm>
            <a:off x="6126480" y="402336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F3DC"/>
                </a:solidFill>
              </a:rPr>
              <a:t>Sample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8F3DC"/>
                </a:solidFill>
              </a:rPr>
              <a:t>Records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14400" y="4663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8F3DC"/>
                </a:solidFill>
              </a:rPr>
              <a:t>All milestones completed  ✓  MySQL 8.0  |  VS Code  |  March 2026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2D6A4F">
              <a:alpha val="40000"/>
            </a:srgbClr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1828800"/>
            <a:ext cx="3657600" cy="3657600"/>
          </a:xfrm>
          <a:prstGeom prst="ellipse">
            <a:avLst/>
          </a:prstGeom>
          <a:solidFill>
            <a:srgbClr val="52B788">
              <a:alpha val="30000"/>
            </a:srgbClr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502920"/>
            <a:ext cx="7680960" cy="397764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685800"/>
            <a:ext cx="6949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Conclusion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2286000" y="1298448"/>
            <a:ext cx="4572000" cy="54864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7" name="Shape 5"/>
          <p:cNvSpPr/>
          <p:nvPr/>
        </p:nvSpPr>
        <p:spPr>
          <a:xfrm>
            <a:off x="1005840" y="1463040"/>
            <a:ext cx="274320" cy="274320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1481328"/>
            <a:ext cx="6675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F3DC"/>
                </a:solidFill>
              </a:rPr>
              <a:t>A fully normalised (3NF) MySQL database with 12 tables was designed and implemented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005840" y="1892808"/>
            <a:ext cx="274320" cy="274320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1911096"/>
            <a:ext cx="6675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F3DC"/>
                </a:solidFill>
              </a:rPr>
              <a:t>EER model features disjoint specialisation (Persons → Farmers / ExtensionWorkers)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005840" y="2322576"/>
            <a:ext cx="274320" cy="274320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12" name="Text 10"/>
          <p:cNvSpPr/>
          <p:nvPr/>
        </p:nvSpPr>
        <p:spPr>
          <a:xfrm>
            <a:off x="1371600" y="2340864"/>
            <a:ext cx="6675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F3DC"/>
                </a:solidFill>
              </a:rPr>
              <a:t>5 analytical views deliver role-appropriate reporting without exposing raw tables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005840" y="2752344"/>
            <a:ext cx="274320" cy="274320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14" name="Text 12"/>
          <p:cNvSpPr/>
          <p:nvPr/>
        </p:nvSpPr>
        <p:spPr>
          <a:xfrm>
            <a:off x="1371600" y="2770632"/>
            <a:ext cx="6675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F3DC"/>
                </a:solidFill>
              </a:rPr>
              <a:t>5 stored procedures automate farmer registration, production entry, and distribution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005840" y="3182112"/>
            <a:ext cx="274320" cy="274320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16" name="Text 14"/>
          <p:cNvSpPr/>
          <p:nvPr/>
        </p:nvSpPr>
        <p:spPr>
          <a:xfrm>
            <a:off x="1371600" y="3200400"/>
            <a:ext cx="6675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F3DC"/>
                </a:solidFill>
              </a:rPr>
              <a:t>7 triggers enforce stock integrity, audit trails, and referential business rules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005840" y="3611880"/>
            <a:ext cx="274320" cy="274320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18" name="Text 16"/>
          <p:cNvSpPr/>
          <p:nvPr/>
        </p:nvSpPr>
        <p:spPr>
          <a:xfrm>
            <a:off x="1371600" y="3630168"/>
            <a:ext cx="6675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F3DC"/>
                </a:solidFill>
              </a:rPr>
              <a:t>3 user roles (admin, ext_worker, viewer) enforce principle of least privilege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005840" y="4041648"/>
            <a:ext cx="274320" cy="274320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20" name="Text 18"/>
          <p:cNvSpPr/>
          <p:nvPr/>
        </p:nvSpPr>
        <p:spPr>
          <a:xfrm>
            <a:off x="1371600" y="4059936"/>
            <a:ext cx="6675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F3DC"/>
                </a:solidFill>
              </a:rPr>
              <a:t>Backup strategy: mysqldump + binary logs + scheduled cron for recovery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0" y="4617720"/>
            <a:ext cx="9144000" cy="521208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" y="466344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Thank You  |  Questions &amp; Live Demo Welcome  |  agri_coffee_db  |  March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Agricultural Services Database – Presentation</dc:title>
  <dc:subject>PptxGenJS Presentation</dc:subject>
  <dc:creator>Agricultural Services DB Team</dc:creator>
  <cp:lastModifiedBy>Agricultural Services DB Team</cp:lastModifiedBy>
  <cp:revision>1</cp:revision>
  <dcterms:created xsi:type="dcterms:W3CDTF">2026-03-30T12:41:21Z</dcterms:created>
  <dcterms:modified xsi:type="dcterms:W3CDTF">2026-03-30T12:41:21Z</dcterms:modified>
</cp:coreProperties>
</file>